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3"/>
  </p:notesMasterIdLst>
  <p:sldIdLst>
    <p:sldId id="256" r:id="rId2"/>
  </p:sldIdLst>
  <p:sldSz cx="27432000" cy="384048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096">
          <p15:clr>
            <a:srgbClr val="A4A3A4"/>
          </p15:clr>
        </p15:guide>
        <p15:guide id="2" pos="86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4" autoAdjust="0"/>
    <p:restoredTop sz="95102" autoAdjust="0"/>
  </p:normalViewPr>
  <p:slideViewPr>
    <p:cSldViewPr snapToGrid="0" snapToObjects="1">
      <p:cViewPr>
        <p:scale>
          <a:sx n="33" d="100"/>
          <a:sy n="33" d="100"/>
        </p:scale>
        <p:origin x="1284" y="-1830"/>
      </p:cViewPr>
      <p:guideLst>
        <p:guide orient="horz" pos="12096"/>
        <p:guide pos="86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Shape 1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19" name="Shape 19"/>
          <p:cNvSpPr>
            <a:spLocks noGrp="1" noRot="1" noChangeAspect="1"/>
          </p:cNvSpPr>
          <p:nvPr>
            <p:ph type="sldImg" idx="2"/>
          </p:nvPr>
        </p:nvSpPr>
        <p:spPr>
          <a:xfrm>
            <a:off x="2205038" y="685800"/>
            <a:ext cx="24479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4"/>
        <p:cNvGrpSpPr/>
        <p:nvPr/>
      </p:nvGrpSpPr>
      <p:grpSpPr>
        <a:xfrm>
          <a:off x="0" y="0"/>
          <a:ext cx="0" cy="0"/>
          <a:chOff x="0" y="0"/>
          <a:chExt cx="0" cy="0"/>
        </a:xfrm>
      </p:grpSpPr>
      <p:sp>
        <p:nvSpPr>
          <p:cNvPr id="15" name="Shape 15"/>
          <p:cNvSpPr txBox="1">
            <a:spLocks noGrp="1"/>
          </p:cNvSpPr>
          <p:nvPr>
            <p:ph type="body" idx="1"/>
          </p:nvPr>
        </p:nvSpPr>
        <p:spPr>
          <a:xfrm>
            <a:off x="914400" y="24841200"/>
            <a:ext cx="12120564" cy="9465312"/>
          </a:xfrm>
          <a:prstGeom prst="rect">
            <a:avLst/>
          </a:prstGeom>
          <a:noFill/>
          <a:ln>
            <a:noFill/>
          </a:ln>
        </p:spPr>
        <p:txBody>
          <a:bodyPr spcFirstLastPara="1" wrap="square" lIns="91425" tIns="91425" rIns="91425" bIns="91425" anchor="t" anchorCtr="0"/>
          <a:lstStyle>
            <a:lvl1pPr marL="457200" marR="0" lvl="0" indent="-533400" algn="l" rtl="0">
              <a:spcBef>
                <a:spcPts val="960"/>
              </a:spcBef>
              <a:spcAft>
                <a:spcPts val="0"/>
              </a:spcAft>
              <a:buClr>
                <a:schemeClr val="dk1"/>
              </a:buClr>
              <a:buSzPts val="4800"/>
              <a:buFont typeface="Arial"/>
              <a:buChar char="•"/>
              <a:defRPr sz="4800" b="0" i="0" u="none" strike="noStrike" cap="none">
                <a:solidFill>
                  <a:schemeClr val="dk1"/>
                </a:solidFill>
                <a:latin typeface="Calibri"/>
                <a:ea typeface="Calibri"/>
                <a:cs typeface="Calibri"/>
                <a:sym typeface="Calibri"/>
              </a:defRPr>
            </a:lvl1pPr>
            <a:lvl2pPr marL="914400" marR="0" lvl="1" indent="-482600" algn="l" rtl="0">
              <a:spcBef>
                <a:spcPts val="800"/>
              </a:spcBef>
              <a:spcAft>
                <a:spcPts val="0"/>
              </a:spcAft>
              <a:buClr>
                <a:schemeClr val="dk1"/>
              </a:buClr>
              <a:buSzPts val="4000"/>
              <a:buFont typeface="Arial"/>
              <a:buChar char="–"/>
              <a:defRPr sz="4000" b="0" i="0" u="none" strike="noStrike" cap="none">
                <a:solidFill>
                  <a:schemeClr val="dk1"/>
                </a:solidFill>
                <a:latin typeface="Calibri"/>
                <a:ea typeface="Calibri"/>
                <a:cs typeface="Calibri"/>
                <a:sym typeface="Calibri"/>
              </a:defRPr>
            </a:lvl2pPr>
            <a:lvl3pPr marL="1371600" marR="0" lvl="2"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3pPr>
            <a:lvl4pPr marL="1828800" marR="0" lvl="3"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4pPr>
            <a:lvl5pPr marL="2286000" marR="0" lvl="4"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5pPr>
            <a:lvl6pPr marL="2743200" marR="0" lvl="5" indent="-647700" algn="l" rtl="0">
              <a:spcBef>
                <a:spcPts val="1320"/>
              </a:spcBef>
              <a:spcAft>
                <a:spcPts val="0"/>
              </a:spcAft>
              <a:buClr>
                <a:schemeClr val="dk1"/>
              </a:buClr>
              <a:buSzPts val="6600"/>
              <a:buFont typeface="Arial"/>
              <a:buChar char="•"/>
              <a:defRPr sz="6600" b="0" i="0" u="none" strike="noStrike" cap="none">
                <a:solidFill>
                  <a:schemeClr val="dk1"/>
                </a:solidFill>
                <a:latin typeface="Calibri"/>
                <a:ea typeface="Calibri"/>
                <a:cs typeface="Calibri"/>
                <a:sym typeface="Calibri"/>
              </a:defRPr>
            </a:lvl6pPr>
            <a:lvl7pPr marL="3200400" marR="0" lvl="6" indent="-647700" algn="l" rtl="0">
              <a:spcBef>
                <a:spcPts val="1320"/>
              </a:spcBef>
              <a:spcAft>
                <a:spcPts val="0"/>
              </a:spcAft>
              <a:buClr>
                <a:schemeClr val="dk1"/>
              </a:buClr>
              <a:buSzPts val="6600"/>
              <a:buFont typeface="Arial"/>
              <a:buChar char="•"/>
              <a:defRPr sz="6600" b="0" i="0" u="none" strike="noStrike" cap="none">
                <a:solidFill>
                  <a:schemeClr val="dk1"/>
                </a:solidFill>
                <a:latin typeface="Calibri"/>
                <a:ea typeface="Calibri"/>
                <a:cs typeface="Calibri"/>
                <a:sym typeface="Calibri"/>
              </a:defRPr>
            </a:lvl7pPr>
            <a:lvl8pPr marL="3657600" marR="0" lvl="7" indent="-647700" algn="l" rtl="0">
              <a:spcBef>
                <a:spcPts val="1320"/>
              </a:spcBef>
              <a:spcAft>
                <a:spcPts val="0"/>
              </a:spcAft>
              <a:buClr>
                <a:schemeClr val="dk1"/>
              </a:buClr>
              <a:buSzPts val="6600"/>
              <a:buFont typeface="Arial"/>
              <a:buChar char="•"/>
              <a:defRPr sz="6600" b="0" i="0" u="none" strike="noStrike" cap="none">
                <a:solidFill>
                  <a:schemeClr val="dk1"/>
                </a:solidFill>
                <a:latin typeface="Calibri"/>
                <a:ea typeface="Calibri"/>
                <a:cs typeface="Calibri"/>
                <a:sym typeface="Calibri"/>
              </a:defRPr>
            </a:lvl8pPr>
            <a:lvl9pPr marL="4114800" marR="0" lvl="8" indent="-647700" algn="l" rtl="0">
              <a:spcBef>
                <a:spcPts val="1320"/>
              </a:spcBef>
              <a:spcAft>
                <a:spcPts val="0"/>
              </a:spcAft>
              <a:buClr>
                <a:schemeClr val="dk1"/>
              </a:buClr>
              <a:buSzPts val="6600"/>
              <a:buFont typeface="Arial"/>
              <a:buChar char="•"/>
              <a:defRPr sz="6600" b="0" i="0" u="none" strike="noStrike" cap="none">
                <a:solidFill>
                  <a:schemeClr val="dk1"/>
                </a:solidFill>
                <a:latin typeface="Calibri"/>
                <a:ea typeface="Calibri"/>
                <a:cs typeface="Calibri"/>
                <a:sym typeface="Calibri"/>
              </a:defRPr>
            </a:lvl9pPr>
          </a:lstStyle>
          <a:p>
            <a:endParaRPr/>
          </a:p>
        </p:txBody>
      </p:sp>
      <p:sp>
        <p:nvSpPr>
          <p:cNvPr id="16" name="Shape 16"/>
          <p:cNvSpPr txBox="1">
            <a:spLocks noGrp="1"/>
          </p:cNvSpPr>
          <p:nvPr>
            <p:ph type="body" idx="2"/>
          </p:nvPr>
        </p:nvSpPr>
        <p:spPr>
          <a:xfrm>
            <a:off x="14249400" y="24765000"/>
            <a:ext cx="12120564" cy="9465312"/>
          </a:xfrm>
          <a:prstGeom prst="rect">
            <a:avLst/>
          </a:prstGeom>
          <a:noFill/>
          <a:ln>
            <a:noFill/>
          </a:ln>
        </p:spPr>
        <p:txBody>
          <a:bodyPr spcFirstLastPara="1" wrap="square" lIns="91425" tIns="91425" rIns="91425" bIns="91425" anchor="t" anchorCtr="0"/>
          <a:lstStyle>
            <a:lvl1pPr marL="457200" marR="0" lvl="0" indent="-533400" algn="l" rtl="0">
              <a:spcBef>
                <a:spcPts val="960"/>
              </a:spcBef>
              <a:spcAft>
                <a:spcPts val="0"/>
              </a:spcAft>
              <a:buClr>
                <a:schemeClr val="dk1"/>
              </a:buClr>
              <a:buSzPts val="4800"/>
              <a:buFont typeface="Arial"/>
              <a:buChar char="•"/>
              <a:defRPr sz="4800" b="0" i="0" u="none" strike="noStrike" cap="none">
                <a:solidFill>
                  <a:schemeClr val="dk1"/>
                </a:solidFill>
                <a:latin typeface="Calibri"/>
                <a:ea typeface="Calibri"/>
                <a:cs typeface="Calibri"/>
                <a:sym typeface="Calibri"/>
              </a:defRPr>
            </a:lvl1pPr>
            <a:lvl2pPr marL="914400" marR="0" lvl="1" indent="-482600" algn="l" rtl="0">
              <a:spcBef>
                <a:spcPts val="800"/>
              </a:spcBef>
              <a:spcAft>
                <a:spcPts val="0"/>
              </a:spcAft>
              <a:buClr>
                <a:schemeClr val="dk1"/>
              </a:buClr>
              <a:buSzPts val="4000"/>
              <a:buFont typeface="Arial"/>
              <a:buChar char="–"/>
              <a:defRPr sz="4000" b="0" i="0" u="none" strike="noStrike" cap="none">
                <a:solidFill>
                  <a:schemeClr val="dk1"/>
                </a:solidFill>
                <a:latin typeface="Calibri"/>
                <a:ea typeface="Calibri"/>
                <a:cs typeface="Calibri"/>
                <a:sym typeface="Calibri"/>
              </a:defRPr>
            </a:lvl2pPr>
            <a:lvl3pPr marL="1371600" marR="0" lvl="2"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3pPr>
            <a:lvl4pPr marL="1828800" marR="0" lvl="3"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4pPr>
            <a:lvl5pPr marL="2286000" marR="0" lvl="4"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5pPr>
            <a:lvl6pPr marL="2743200" marR="0" lvl="5" indent="-647700" algn="l" rtl="0">
              <a:spcBef>
                <a:spcPts val="1320"/>
              </a:spcBef>
              <a:spcAft>
                <a:spcPts val="0"/>
              </a:spcAft>
              <a:buClr>
                <a:schemeClr val="dk1"/>
              </a:buClr>
              <a:buSzPts val="6600"/>
              <a:buFont typeface="Arial"/>
              <a:buChar char="•"/>
              <a:defRPr sz="6600" b="0" i="0" u="none" strike="noStrike" cap="none">
                <a:solidFill>
                  <a:schemeClr val="dk1"/>
                </a:solidFill>
                <a:latin typeface="Calibri"/>
                <a:ea typeface="Calibri"/>
                <a:cs typeface="Calibri"/>
                <a:sym typeface="Calibri"/>
              </a:defRPr>
            </a:lvl6pPr>
            <a:lvl7pPr marL="3200400" marR="0" lvl="6" indent="-647700" algn="l" rtl="0">
              <a:spcBef>
                <a:spcPts val="1320"/>
              </a:spcBef>
              <a:spcAft>
                <a:spcPts val="0"/>
              </a:spcAft>
              <a:buClr>
                <a:schemeClr val="dk1"/>
              </a:buClr>
              <a:buSzPts val="6600"/>
              <a:buFont typeface="Arial"/>
              <a:buChar char="•"/>
              <a:defRPr sz="6600" b="0" i="0" u="none" strike="noStrike" cap="none">
                <a:solidFill>
                  <a:schemeClr val="dk1"/>
                </a:solidFill>
                <a:latin typeface="Calibri"/>
                <a:ea typeface="Calibri"/>
                <a:cs typeface="Calibri"/>
                <a:sym typeface="Calibri"/>
              </a:defRPr>
            </a:lvl7pPr>
            <a:lvl8pPr marL="3657600" marR="0" lvl="7" indent="-647700" algn="l" rtl="0">
              <a:spcBef>
                <a:spcPts val="1320"/>
              </a:spcBef>
              <a:spcAft>
                <a:spcPts val="0"/>
              </a:spcAft>
              <a:buClr>
                <a:schemeClr val="dk1"/>
              </a:buClr>
              <a:buSzPts val="6600"/>
              <a:buFont typeface="Arial"/>
              <a:buChar char="•"/>
              <a:defRPr sz="6600" b="0" i="0" u="none" strike="noStrike" cap="none">
                <a:solidFill>
                  <a:schemeClr val="dk1"/>
                </a:solidFill>
                <a:latin typeface="Calibri"/>
                <a:ea typeface="Calibri"/>
                <a:cs typeface="Calibri"/>
                <a:sym typeface="Calibri"/>
              </a:defRPr>
            </a:lvl8pPr>
            <a:lvl9pPr marL="4114800" marR="0" lvl="8" indent="-647700" algn="l" rtl="0">
              <a:spcBef>
                <a:spcPts val="1320"/>
              </a:spcBef>
              <a:spcAft>
                <a:spcPts val="0"/>
              </a:spcAft>
              <a:buClr>
                <a:schemeClr val="dk1"/>
              </a:buClr>
              <a:buSzPts val="6600"/>
              <a:buFont typeface="Arial"/>
              <a:buChar char="•"/>
              <a:defRPr sz="6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p:nvPr/>
        </p:nvSpPr>
        <p:spPr>
          <a:xfrm>
            <a:off x="0" y="0"/>
            <a:ext cx="27432000" cy="4114800"/>
          </a:xfrm>
          <a:prstGeom prst="rect">
            <a:avLst/>
          </a:prstGeom>
          <a:solidFill>
            <a:schemeClr val="accent2"/>
          </a:solidFill>
          <a:ln w="381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7400" b="0" i="0" u="none">
              <a:solidFill>
                <a:schemeClr val="dk1"/>
              </a:solidFill>
              <a:latin typeface="Arial"/>
              <a:ea typeface="Arial"/>
              <a:cs typeface="Arial"/>
              <a:sym typeface="Arial"/>
            </a:endParaRPr>
          </a:p>
        </p:txBody>
      </p:sp>
      <p:sp>
        <p:nvSpPr>
          <p:cNvPr id="7" name="Shape 7"/>
          <p:cNvSpPr txBox="1"/>
          <p:nvPr/>
        </p:nvSpPr>
        <p:spPr>
          <a:xfrm>
            <a:off x="14038263" y="4879975"/>
            <a:ext cx="12909551" cy="32689799"/>
          </a:xfrm>
          <a:prstGeom prst="rect">
            <a:avLst/>
          </a:prstGeom>
          <a:solidFill>
            <a:srgbClr val="FFFFFF"/>
          </a:solidFill>
          <a:ln w="25400" cap="flat" cmpd="sng">
            <a:solidFill>
              <a:srgbClr val="9E9E9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7400" b="0" i="0" u="none">
              <a:solidFill>
                <a:schemeClr val="dk1"/>
              </a:solidFill>
              <a:latin typeface="Arial"/>
              <a:ea typeface="Arial"/>
              <a:cs typeface="Arial"/>
              <a:sym typeface="Arial"/>
            </a:endParaRPr>
          </a:p>
        </p:txBody>
      </p:sp>
      <p:sp>
        <p:nvSpPr>
          <p:cNvPr id="8" name="Shape 8"/>
          <p:cNvSpPr txBox="1"/>
          <p:nvPr/>
        </p:nvSpPr>
        <p:spPr>
          <a:xfrm>
            <a:off x="533400" y="4879975"/>
            <a:ext cx="12909551" cy="32689799"/>
          </a:xfrm>
          <a:prstGeom prst="rect">
            <a:avLst/>
          </a:prstGeom>
          <a:solidFill>
            <a:srgbClr val="FFFFFF"/>
          </a:solidFill>
          <a:ln w="25400" cap="flat" cmpd="sng">
            <a:solidFill>
              <a:srgbClr val="9E9E9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7400" b="0" i="0" u="none">
              <a:solidFill>
                <a:schemeClr val="dk1"/>
              </a:solidFill>
              <a:latin typeface="Arial"/>
              <a:ea typeface="Arial"/>
              <a:cs typeface="Arial"/>
              <a:sym typeface="Arial"/>
            </a:endParaRPr>
          </a:p>
        </p:txBody>
      </p:sp>
      <p:sp>
        <p:nvSpPr>
          <p:cNvPr id="9" name="Shape 9"/>
          <p:cNvSpPr txBox="1"/>
          <p:nvPr/>
        </p:nvSpPr>
        <p:spPr>
          <a:xfrm>
            <a:off x="0" y="3962400"/>
            <a:ext cx="27432000" cy="152400"/>
          </a:xfrm>
          <a:prstGeom prst="rect">
            <a:avLst/>
          </a:prstGeom>
          <a:solidFill>
            <a:srgbClr val="FF9933"/>
          </a:solidFill>
          <a:ln w="381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7400" b="0" i="0" u="none">
              <a:solidFill>
                <a:schemeClr val="dk1"/>
              </a:solidFill>
              <a:latin typeface="Arial"/>
              <a:ea typeface="Arial"/>
              <a:cs typeface="Arial"/>
              <a:sym typeface="Arial"/>
            </a:endParaRPr>
          </a:p>
        </p:txBody>
      </p:sp>
      <p:sp>
        <p:nvSpPr>
          <p:cNvPr id="10" name="Shape 10"/>
          <p:cNvSpPr txBox="1"/>
          <p:nvPr/>
        </p:nvSpPr>
        <p:spPr>
          <a:xfrm>
            <a:off x="26660475" y="38100000"/>
            <a:ext cx="792162" cy="2301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1"/>
              </a:buClr>
              <a:buSzPts val="900"/>
              <a:buFont typeface="Calibri"/>
              <a:buNone/>
            </a:pPr>
            <a:r>
              <a:rPr lang="en-US" sz="900" b="0" i="0" u="none">
                <a:solidFill>
                  <a:schemeClr val="accent1"/>
                </a:solidFill>
                <a:latin typeface="Calibri"/>
                <a:ea typeface="Calibri"/>
                <a:cs typeface="Calibri"/>
                <a:sym typeface="Calibri"/>
              </a:rPr>
              <a:t>LLafave 2010</a:t>
            </a:r>
            <a:endParaRPr/>
          </a:p>
        </p:txBody>
      </p:sp>
      <p:pic>
        <p:nvPicPr>
          <p:cNvPr id="11" name="Shape 11" descr="MRU_1c_logo_RGB_rev_LT_Blue.png"/>
          <p:cNvPicPr preferRelativeResize="0"/>
          <p:nvPr/>
        </p:nvPicPr>
        <p:blipFill rotWithShape="1">
          <a:blip r:embed="rId3">
            <a:alphaModFix/>
          </a:blip>
          <a:srcRect/>
          <a:stretch/>
        </p:blipFill>
        <p:spPr>
          <a:xfrm>
            <a:off x="22631400" y="377825"/>
            <a:ext cx="4648200" cy="3279775"/>
          </a:xfrm>
          <a:prstGeom prst="rect">
            <a:avLst/>
          </a:prstGeom>
          <a:noFill/>
          <a:ln>
            <a:noFill/>
          </a:ln>
        </p:spPr>
      </p:pic>
      <p:sp>
        <p:nvSpPr>
          <p:cNvPr id="12" name="Shape 12"/>
          <p:cNvSpPr txBox="1">
            <a:spLocks noGrp="1"/>
          </p:cNvSpPr>
          <p:nvPr>
            <p:ph type="title"/>
          </p:nvPr>
        </p:nvSpPr>
        <p:spPr>
          <a:xfrm>
            <a:off x="1371600" y="1538287"/>
            <a:ext cx="24688800" cy="6400800"/>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81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181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181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181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181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181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181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181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18100" b="0" i="0" u="none" strike="noStrike" cap="none">
                <a:solidFill>
                  <a:schemeClr val="dk1"/>
                </a:solidFill>
                <a:latin typeface="Calibri"/>
                <a:ea typeface="Calibri"/>
                <a:cs typeface="Calibri"/>
                <a:sym typeface="Calibri"/>
              </a:defRPr>
            </a:lvl9pPr>
          </a:lstStyle>
          <a:p>
            <a:endParaRPr/>
          </a:p>
        </p:txBody>
      </p:sp>
      <p:sp>
        <p:nvSpPr>
          <p:cNvPr id="13" name="Shape 13"/>
          <p:cNvSpPr txBox="1">
            <a:spLocks noGrp="1"/>
          </p:cNvSpPr>
          <p:nvPr>
            <p:ph type="body" idx="1"/>
          </p:nvPr>
        </p:nvSpPr>
        <p:spPr>
          <a:xfrm>
            <a:off x="1371600" y="8961437"/>
            <a:ext cx="24688800" cy="25344438"/>
          </a:xfrm>
          <a:prstGeom prst="rect">
            <a:avLst/>
          </a:prstGeom>
          <a:noFill/>
          <a:ln>
            <a:noFill/>
          </a:ln>
        </p:spPr>
        <p:txBody>
          <a:bodyPr spcFirstLastPara="1" wrap="square" lIns="91425" tIns="91425" rIns="91425" bIns="91425" anchor="t" anchorCtr="0"/>
          <a:lstStyle>
            <a:lvl1pPr marL="457200" marR="0" lvl="0" indent="-1066800" algn="l" rtl="0">
              <a:spcBef>
                <a:spcPts val="2640"/>
              </a:spcBef>
              <a:spcAft>
                <a:spcPts val="0"/>
              </a:spcAft>
              <a:buClr>
                <a:schemeClr val="dk1"/>
              </a:buClr>
              <a:buSzPts val="13200"/>
              <a:buFont typeface="Arial"/>
              <a:buChar char="•"/>
              <a:defRPr sz="13200" b="0" i="0" u="none" strike="noStrike" cap="none">
                <a:solidFill>
                  <a:schemeClr val="dk1"/>
                </a:solidFill>
                <a:latin typeface="Calibri"/>
                <a:ea typeface="Calibri"/>
                <a:cs typeface="Calibri"/>
                <a:sym typeface="Calibri"/>
              </a:defRPr>
            </a:lvl1pPr>
            <a:lvl2pPr marL="914400" marR="0" lvl="1" indent="-958850" algn="l" rtl="0">
              <a:spcBef>
                <a:spcPts val="2300"/>
              </a:spcBef>
              <a:spcAft>
                <a:spcPts val="0"/>
              </a:spcAft>
              <a:buClr>
                <a:schemeClr val="dk1"/>
              </a:buClr>
              <a:buSzPts val="11500"/>
              <a:buFont typeface="Arial"/>
              <a:buChar char="–"/>
              <a:defRPr sz="11500" b="0" i="0" u="none" strike="noStrike" cap="none">
                <a:solidFill>
                  <a:schemeClr val="dk1"/>
                </a:solidFill>
                <a:latin typeface="Calibri"/>
                <a:ea typeface="Calibri"/>
                <a:cs typeface="Calibri"/>
                <a:sym typeface="Calibri"/>
              </a:defRPr>
            </a:lvl2pPr>
            <a:lvl3pPr marL="1371600" marR="0" lvl="2" indent="-857250" algn="l" rtl="0">
              <a:spcBef>
                <a:spcPts val="1980"/>
              </a:spcBef>
              <a:spcAft>
                <a:spcPts val="0"/>
              </a:spcAft>
              <a:buClr>
                <a:schemeClr val="dk1"/>
              </a:buClr>
              <a:buSzPts val="9900"/>
              <a:buFont typeface="Arial"/>
              <a:buChar char="•"/>
              <a:defRPr sz="9900" b="0" i="0" u="none" strike="noStrike" cap="none">
                <a:solidFill>
                  <a:schemeClr val="dk1"/>
                </a:solidFill>
                <a:latin typeface="Calibri"/>
                <a:ea typeface="Calibri"/>
                <a:cs typeface="Calibri"/>
                <a:sym typeface="Calibri"/>
              </a:defRPr>
            </a:lvl3pPr>
            <a:lvl4pPr marL="1828800" marR="0" lvl="3" indent="-749300" algn="l" rtl="0">
              <a:spcBef>
                <a:spcPts val="1640"/>
              </a:spcBef>
              <a:spcAft>
                <a:spcPts val="0"/>
              </a:spcAft>
              <a:buClr>
                <a:schemeClr val="dk1"/>
              </a:buClr>
              <a:buSzPts val="8200"/>
              <a:buFont typeface="Arial"/>
              <a:buChar char="–"/>
              <a:defRPr sz="8200" b="0" i="0" u="none" strike="noStrike" cap="none">
                <a:solidFill>
                  <a:schemeClr val="dk1"/>
                </a:solidFill>
                <a:latin typeface="Calibri"/>
                <a:ea typeface="Calibri"/>
                <a:cs typeface="Calibri"/>
                <a:sym typeface="Calibri"/>
              </a:defRPr>
            </a:lvl4pPr>
            <a:lvl5pPr marL="2286000" marR="0" lvl="4" indent="-749300" algn="l" rtl="0">
              <a:spcBef>
                <a:spcPts val="1640"/>
              </a:spcBef>
              <a:spcAft>
                <a:spcPts val="0"/>
              </a:spcAft>
              <a:buClr>
                <a:schemeClr val="dk1"/>
              </a:buClr>
              <a:buSzPts val="8200"/>
              <a:buFont typeface="Arial"/>
              <a:buChar char="»"/>
              <a:defRPr sz="8200" b="0" i="0" u="none" strike="noStrike" cap="none">
                <a:solidFill>
                  <a:schemeClr val="dk1"/>
                </a:solidFill>
                <a:latin typeface="Calibri"/>
                <a:ea typeface="Calibri"/>
                <a:cs typeface="Calibri"/>
                <a:sym typeface="Calibri"/>
              </a:defRPr>
            </a:lvl5pPr>
            <a:lvl6pPr marL="2743200" marR="0" lvl="5" indent="-749300" algn="l" rtl="0">
              <a:spcBef>
                <a:spcPts val="1640"/>
              </a:spcBef>
              <a:spcAft>
                <a:spcPts val="0"/>
              </a:spcAft>
              <a:buClr>
                <a:schemeClr val="dk1"/>
              </a:buClr>
              <a:buSzPts val="8200"/>
              <a:buFont typeface="Arial"/>
              <a:buChar char="•"/>
              <a:defRPr sz="8200" b="0" i="0" u="none" strike="noStrike" cap="none">
                <a:solidFill>
                  <a:schemeClr val="dk1"/>
                </a:solidFill>
                <a:latin typeface="Calibri"/>
                <a:ea typeface="Calibri"/>
                <a:cs typeface="Calibri"/>
                <a:sym typeface="Calibri"/>
              </a:defRPr>
            </a:lvl6pPr>
            <a:lvl7pPr marL="3200400" marR="0" lvl="6" indent="-749300" algn="l" rtl="0">
              <a:spcBef>
                <a:spcPts val="1640"/>
              </a:spcBef>
              <a:spcAft>
                <a:spcPts val="0"/>
              </a:spcAft>
              <a:buClr>
                <a:schemeClr val="dk1"/>
              </a:buClr>
              <a:buSzPts val="8200"/>
              <a:buFont typeface="Arial"/>
              <a:buChar char="•"/>
              <a:defRPr sz="8200" b="0" i="0" u="none" strike="noStrike" cap="none">
                <a:solidFill>
                  <a:schemeClr val="dk1"/>
                </a:solidFill>
                <a:latin typeface="Calibri"/>
                <a:ea typeface="Calibri"/>
                <a:cs typeface="Calibri"/>
                <a:sym typeface="Calibri"/>
              </a:defRPr>
            </a:lvl7pPr>
            <a:lvl8pPr marL="3657600" marR="0" lvl="7" indent="-749300" algn="l" rtl="0">
              <a:spcBef>
                <a:spcPts val="1640"/>
              </a:spcBef>
              <a:spcAft>
                <a:spcPts val="0"/>
              </a:spcAft>
              <a:buClr>
                <a:schemeClr val="dk1"/>
              </a:buClr>
              <a:buSzPts val="8200"/>
              <a:buFont typeface="Arial"/>
              <a:buChar char="•"/>
              <a:defRPr sz="8200" b="0" i="0" u="none" strike="noStrike" cap="none">
                <a:solidFill>
                  <a:schemeClr val="dk1"/>
                </a:solidFill>
                <a:latin typeface="Calibri"/>
                <a:ea typeface="Calibri"/>
                <a:cs typeface="Calibri"/>
                <a:sym typeface="Calibri"/>
              </a:defRPr>
            </a:lvl8pPr>
            <a:lvl9pPr marL="4114800" marR="0" lvl="8" indent="-749300" algn="l" rtl="0">
              <a:spcBef>
                <a:spcPts val="1640"/>
              </a:spcBef>
              <a:spcAft>
                <a:spcPts val="0"/>
              </a:spcAft>
              <a:buClr>
                <a:schemeClr val="dk1"/>
              </a:buClr>
              <a:buSzPts val="8200"/>
              <a:buFont typeface="Arial"/>
              <a:buChar char="•"/>
              <a:defRPr sz="82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
        <p:cNvGrpSpPr/>
        <p:nvPr/>
      </p:nvGrpSpPr>
      <p:grpSpPr>
        <a:xfrm>
          <a:off x="0" y="0"/>
          <a:ext cx="0" cy="0"/>
          <a:chOff x="0" y="0"/>
          <a:chExt cx="0" cy="0"/>
        </a:xfrm>
      </p:grpSpPr>
      <p:sp>
        <p:nvSpPr>
          <p:cNvPr id="27" name="Shape 27"/>
          <p:cNvSpPr txBox="1">
            <a:spLocks noGrp="1"/>
          </p:cNvSpPr>
          <p:nvPr>
            <p:ph type="title" idx="4294967295"/>
          </p:nvPr>
        </p:nvSpPr>
        <p:spPr>
          <a:xfrm>
            <a:off x="2590800" y="228600"/>
            <a:ext cx="21031199" cy="3505200"/>
          </a:xfrm>
          <a:prstGeom prst="rect">
            <a:avLst/>
          </a:prstGeom>
          <a:noFill/>
          <a:ln>
            <a:noFill/>
          </a:ln>
        </p:spPr>
        <p:txBody>
          <a:bodyPr spcFirstLastPara="1" wrap="square" lIns="376200" tIns="188100" rIns="376200" bIns="188100" anchor="ctr" anchorCtr="0">
            <a:noAutofit/>
          </a:bodyPr>
          <a:lstStyle/>
          <a:p>
            <a:pPr marL="0" marR="0" lvl="0" indent="0" algn="ctr" rtl="0">
              <a:lnSpc>
                <a:spcPct val="100000"/>
              </a:lnSpc>
              <a:spcBef>
                <a:spcPts val="0"/>
              </a:spcBef>
              <a:spcAft>
                <a:spcPts val="0"/>
              </a:spcAft>
              <a:buClr>
                <a:srgbClr val="FFFFFF"/>
              </a:buClr>
              <a:buSzPts val="6600"/>
              <a:buFont typeface="Times New Roman"/>
              <a:buNone/>
            </a:pPr>
            <a:r>
              <a:rPr lang="en-US" sz="6600" b="0" i="0" u="none" strike="noStrike" cap="none" dirty="0">
                <a:solidFill>
                  <a:srgbClr val="FFFFFF"/>
                </a:solidFill>
                <a:latin typeface="Times New Roman"/>
                <a:ea typeface="Times New Roman"/>
                <a:cs typeface="Times New Roman"/>
                <a:sym typeface="Times New Roman"/>
              </a:rPr>
              <a:t>Inspecting Network Congestion Control Algorithms in an Emulation Environment</a:t>
            </a:r>
            <a:br>
              <a:rPr lang="en-US" sz="1100" b="0" i="0" u="none" strike="noStrike" cap="none" dirty="0">
                <a:solidFill>
                  <a:srgbClr val="FFFFFF"/>
                </a:solidFill>
                <a:latin typeface="Times New Roman"/>
                <a:ea typeface="Times New Roman"/>
                <a:cs typeface="Times New Roman"/>
                <a:sym typeface="Times New Roman"/>
              </a:rPr>
            </a:br>
            <a:r>
              <a:rPr lang="en-US" sz="1100" b="0" i="0" u="none" strike="noStrike" cap="none" dirty="0">
                <a:solidFill>
                  <a:srgbClr val="FFFFFF"/>
                </a:solidFill>
                <a:latin typeface="Times New Roman"/>
                <a:ea typeface="Times New Roman"/>
                <a:cs typeface="Times New Roman"/>
                <a:sym typeface="Times New Roman"/>
              </a:rPr>
              <a:t> </a:t>
            </a:r>
            <a:br>
              <a:rPr lang="en-US" sz="7700" b="0" i="0" u="none" strike="noStrike" cap="none" dirty="0">
                <a:solidFill>
                  <a:srgbClr val="FFFFFF"/>
                </a:solidFill>
                <a:latin typeface="Times New Roman"/>
                <a:ea typeface="Times New Roman"/>
                <a:cs typeface="Times New Roman"/>
                <a:sym typeface="Times New Roman"/>
              </a:rPr>
            </a:br>
            <a:r>
              <a:rPr lang="en-US" sz="4000" b="1" dirty="0">
                <a:solidFill>
                  <a:srgbClr val="FFFFFF"/>
                </a:solidFill>
                <a:latin typeface="Times New Roman"/>
                <a:ea typeface="Times New Roman"/>
                <a:cs typeface="Times New Roman"/>
                <a:sym typeface="Times New Roman"/>
              </a:rPr>
              <a:t>Joshua Wolfel, Dr. Elahi</a:t>
            </a:r>
            <a:br>
              <a:rPr lang="en-US" sz="7700" b="1" i="0" u="none" strike="noStrike" cap="none" dirty="0">
                <a:solidFill>
                  <a:srgbClr val="FFFFFF"/>
                </a:solidFill>
                <a:latin typeface="Times New Roman"/>
                <a:ea typeface="Times New Roman"/>
                <a:cs typeface="Times New Roman"/>
                <a:sym typeface="Times New Roman"/>
              </a:rPr>
            </a:br>
            <a:r>
              <a:rPr lang="en-US" sz="3200" b="1" i="0" u="none" strike="noStrike" cap="none" dirty="0">
                <a:solidFill>
                  <a:srgbClr val="FFFFFF"/>
                </a:solidFill>
                <a:latin typeface="Times New Roman"/>
                <a:ea typeface="Times New Roman"/>
                <a:cs typeface="Times New Roman"/>
                <a:sym typeface="Times New Roman"/>
              </a:rPr>
              <a:t>Department of </a:t>
            </a:r>
            <a:r>
              <a:rPr lang="en-US" sz="3200" b="1" dirty="0">
                <a:solidFill>
                  <a:srgbClr val="FFFFFF"/>
                </a:solidFill>
                <a:latin typeface="Times New Roman"/>
                <a:ea typeface="Times New Roman"/>
                <a:cs typeface="Times New Roman"/>
                <a:sym typeface="Times New Roman"/>
              </a:rPr>
              <a:t>Mathematics and Computing</a:t>
            </a:r>
            <a:r>
              <a:rPr lang="en-US" sz="3200" b="1" i="0" u="none" strike="noStrike" cap="none" dirty="0">
                <a:solidFill>
                  <a:srgbClr val="FFFFFF"/>
                </a:solidFill>
                <a:latin typeface="Times New Roman"/>
                <a:ea typeface="Times New Roman"/>
                <a:cs typeface="Times New Roman"/>
                <a:sym typeface="Times New Roman"/>
              </a:rPr>
              <a:t>, Mount Royal University, Calgary, AB, Canad</a:t>
            </a:r>
            <a:r>
              <a:rPr lang="en-US" sz="3200" b="1" dirty="0">
                <a:solidFill>
                  <a:srgbClr val="FFFFFF"/>
                </a:solidFill>
                <a:latin typeface="Times New Roman"/>
                <a:ea typeface="Times New Roman"/>
                <a:cs typeface="Times New Roman"/>
                <a:sym typeface="Times New Roman"/>
              </a:rPr>
              <a:t>a</a:t>
            </a:r>
            <a:endParaRPr dirty="0"/>
          </a:p>
        </p:txBody>
      </p:sp>
      <p:sp>
        <p:nvSpPr>
          <p:cNvPr id="28" name="Shape 28"/>
          <p:cNvSpPr txBox="1"/>
          <p:nvPr/>
        </p:nvSpPr>
        <p:spPr>
          <a:xfrm>
            <a:off x="498450" y="12505122"/>
            <a:ext cx="12909600" cy="838200"/>
          </a:xfrm>
          <a:prstGeom prst="rect">
            <a:avLst/>
          </a:prstGeom>
          <a:solidFill>
            <a:srgbClr val="003466"/>
          </a:solidFill>
          <a:ln w="25400" cap="flat" cmpd="sng">
            <a:solidFill>
              <a:srgbClr val="0034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4100"/>
              <a:buFont typeface="Times New Roman"/>
              <a:buNone/>
            </a:pPr>
            <a:r>
              <a:rPr lang="en-US" sz="4100" b="1" i="0" u="none" dirty="0">
                <a:solidFill>
                  <a:srgbClr val="FFFFFF"/>
                </a:solidFill>
                <a:latin typeface="Times New Roman"/>
                <a:ea typeface="Times New Roman"/>
                <a:cs typeface="Times New Roman"/>
                <a:sym typeface="Times New Roman"/>
              </a:rPr>
              <a:t>Methods</a:t>
            </a:r>
            <a:endParaRPr dirty="0"/>
          </a:p>
        </p:txBody>
      </p:sp>
      <p:sp>
        <p:nvSpPr>
          <p:cNvPr id="29" name="Shape 29"/>
          <p:cNvSpPr txBox="1"/>
          <p:nvPr/>
        </p:nvSpPr>
        <p:spPr>
          <a:xfrm>
            <a:off x="533400" y="4876800"/>
            <a:ext cx="12909551" cy="688975"/>
          </a:xfrm>
          <a:prstGeom prst="rect">
            <a:avLst/>
          </a:prstGeom>
          <a:solidFill>
            <a:srgbClr val="003466"/>
          </a:solidFill>
          <a:ln w="25400" cap="flat" cmpd="sng">
            <a:solidFill>
              <a:srgbClr val="0034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4100"/>
              <a:buFont typeface="Times New Roman"/>
              <a:buNone/>
            </a:pPr>
            <a:r>
              <a:rPr lang="en-US" sz="4100" b="1" i="0" u="none" dirty="0">
                <a:solidFill>
                  <a:srgbClr val="FFFFFF"/>
                </a:solidFill>
                <a:latin typeface="Times New Roman"/>
                <a:ea typeface="Times New Roman"/>
                <a:cs typeface="Times New Roman"/>
                <a:sym typeface="Times New Roman"/>
              </a:rPr>
              <a:t>Introduction</a:t>
            </a:r>
            <a:endParaRPr dirty="0"/>
          </a:p>
        </p:txBody>
      </p:sp>
      <p:sp>
        <p:nvSpPr>
          <p:cNvPr id="30" name="Shape 30"/>
          <p:cNvSpPr txBox="1"/>
          <p:nvPr/>
        </p:nvSpPr>
        <p:spPr>
          <a:xfrm>
            <a:off x="14065250" y="4890698"/>
            <a:ext cx="12893040" cy="732200"/>
          </a:xfrm>
          <a:prstGeom prst="rect">
            <a:avLst/>
          </a:prstGeom>
          <a:solidFill>
            <a:srgbClr val="003466"/>
          </a:solidFill>
          <a:ln w="25400" cap="flat" cmpd="sng">
            <a:solidFill>
              <a:srgbClr val="0034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4100"/>
              <a:buFont typeface="Times New Roman"/>
              <a:buNone/>
            </a:pPr>
            <a:r>
              <a:rPr lang="en-US" sz="4100" b="1" i="0" u="none" dirty="0">
                <a:solidFill>
                  <a:srgbClr val="FFFFFF"/>
                </a:solidFill>
                <a:latin typeface="Times New Roman"/>
                <a:ea typeface="Times New Roman"/>
                <a:cs typeface="Times New Roman"/>
                <a:sym typeface="Times New Roman"/>
              </a:rPr>
              <a:t>Results – Small Buffer</a:t>
            </a:r>
            <a:endParaRPr dirty="0"/>
          </a:p>
        </p:txBody>
      </p:sp>
      <p:sp>
        <p:nvSpPr>
          <p:cNvPr id="31" name="Shape 31"/>
          <p:cNvSpPr txBox="1"/>
          <p:nvPr/>
        </p:nvSpPr>
        <p:spPr>
          <a:xfrm>
            <a:off x="838199" y="5599580"/>
            <a:ext cx="12230100" cy="6602158"/>
          </a:xfrm>
          <a:prstGeom prst="rect">
            <a:avLst/>
          </a:prstGeom>
          <a:noFill/>
          <a:ln>
            <a:noFill/>
          </a:ln>
        </p:spPr>
        <p:txBody>
          <a:bodyPr spcFirstLastPara="1" wrap="square" lIns="391025" tIns="391025" rIns="391025" bIns="195475" anchor="t" anchorCtr="0">
            <a:noAutofit/>
          </a:bodyPr>
          <a:lstStyle/>
          <a:p>
            <a:pPr marL="457200" marR="0" lvl="0" indent="-457200" algn="l" rtl="0">
              <a:lnSpc>
                <a:spcPct val="100000"/>
              </a:lnSpc>
              <a:spcBef>
                <a:spcPts val="0"/>
              </a:spcBef>
              <a:spcAft>
                <a:spcPts val="0"/>
              </a:spcAft>
              <a:buClr>
                <a:schemeClr val="dk1"/>
              </a:buClr>
              <a:buSzPts val="3600"/>
              <a:buFont typeface="Times New Roman"/>
              <a:buChar char="●"/>
            </a:pPr>
            <a:r>
              <a:rPr lang="en-CA" sz="2800" b="0" i="0" dirty="0">
                <a:solidFill>
                  <a:srgbClr val="202124"/>
                </a:solidFill>
                <a:effectLst/>
                <a:latin typeface="+mj-lt"/>
              </a:rPr>
              <a:t>Transmission Control Protocol (TCP) is a fundamental protocol within the Internet protocol suite that provides reliable, ordered, and error-checked delivery of a stream of bytes between applications. </a:t>
            </a:r>
          </a:p>
          <a:p>
            <a:pPr marL="457200" marR="0" lvl="0" indent="-457200" algn="l" rtl="0">
              <a:lnSpc>
                <a:spcPct val="100000"/>
              </a:lnSpc>
              <a:spcBef>
                <a:spcPts val="0"/>
              </a:spcBef>
              <a:spcAft>
                <a:spcPts val="0"/>
              </a:spcAft>
              <a:buClr>
                <a:schemeClr val="dk1"/>
              </a:buClr>
              <a:buSzPts val="3600"/>
              <a:buFont typeface="Times New Roman"/>
              <a:buChar char="●"/>
            </a:pPr>
            <a:r>
              <a:rPr lang="en-CA" sz="2800" b="0" i="0" dirty="0">
                <a:solidFill>
                  <a:srgbClr val="202124"/>
                </a:solidFill>
                <a:effectLst/>
                <a:latin typeface="+mj-lt"/>
              </a:rPr>
              <a:t>Congestion Control is a set of mechanisms within the TCP designed to detect and prevent network congestion by adjusting the rate at which data is sent and is crucial for providing internet stability by preventing excessive data from overwhelming network paths. </a:t>
            </a:r>
          </a:p>
          <a:p>
            <a:pPr marL="457200" marR="0" lvl="0" indent="-457200" algn="l" rtl="0">
              <a:lnSpc>
                <a:spcPct val="100000"/>
              </a:lnSpc>
              <a:spcBef>
                <a:spcPts val="0"/>
              </a:spcBef>
              <a:spcAft>
                <a:spcPts val="0"/>
              </a:spcAft>
              <a:buClr>
                <a:schemeClr val="dk1"/>
              </a:buClr>
              <a:buSzPts val="3600"/>
              <a:buFont typeface="Times New Roman"/>
              <a:buChar char="●"/>
            </a:pPr>
            <a:r>
              <a:rPr lang="en-CA" sz="2800" dirty="0">
                <a:solidFill>
                  <a:srgbClr val="202124"/>
                </a:solidFill>
                <a:latin typeface="+mj-lt"/>
              </a:rPr>
              <a:t>The complexity and variability of network conditions, high diversity in traffic patterns, and variety in congestion control implementation, makes analyzing congestion control on a case-by-case basis difficult.  </a:t>
            </a:r>
            <a:endParaRPr lang="en-CA" sz="2800" b="0" i="0" dirty="0">
              <a:solidFill>
                <a:srgbClr val="202124"/>
              </a:solidFill>
              <a:effectLst/>
              <a:latin typeface="+mj-lt"/>
            </a:endParaRPr>
          </a:p>
          <a:p>
            <a:pPr marL="457200" marR="0" lvl="0" indent="-457200" algn="l" rtl="0">
              <a:lnSpc>
                <a:spcPct val="100000"/>
              </a:lnSpc>
              <a:spcBef>
                <a:spcPts val="0"/>
              </a:spcBef>
              <a:spcAft>
                <a:spcPts val="0"/>
              </a:spcAft>
              <a:buClr>
                <a:schemeClr val="dk1"/>
              </a:buClr>
              <a:buSzPts val="3600"/>
              <a:buFont typeface="Times New Roman"/>
              <a:buChar char="●"/>
            </a:pPr>
            <a:r>
              <a:rPr lang="en-CA" sz="2800" b="0" i="0" dirty="0">
                <a:solidFill>
                  <a:srgbClr val="202124"/>
                </a:solidFill>
                <a:effectLst/>
                <a:latin typeface="+mj-lt"/>
              </a:rPr>
              <a:t>We aim to create a controlled environment to consistently measure and inspect congestion control behavior for purpose of teaching and research, including the effect of router buffer sizes in relation to overall network performance</a:t>
            </a:r>
            <a:r>
              <a:rPr lang="en-CA" sz="2400" b="0" i="0" dirty="0">
                <a:solidFill>
                  <a:srgbClr val="202124"/>
                </a:solidFill>
                <a:effectLst/>
                <a:latin typeface="+mj-lt"/>
              </a:rPr>
              <a:t>. </a:t>
            </a:r>
            <a:br>
              <a:rPr lang="en-US" sz="3600" dirty="0">
                <a:solidFill>
                  <a:schemeClr val="dk1"/>
                </a:solidFill>
                <a:latin typeface="Times New Roman"/>
                <a:ea typeface="Times New Roman"/>
                <a:cs typeface="Times New Roman"/>
                <a:sym typeface="Times New Roman"/>
              </a:rPr>
            </a:br>
            <a:r>
              <a:rPr lang="en-US" sz="3600" dirty="0">
                <a:solidFill>
                  <a:schemeClr val="dk1"/>
                </a:solidFill>
                <a:latin typeface="Times New Roman"/>
                <a:ea typeface="Times New Roman"/>
                <a:cs typeface="Times New Roman"/>
                <a:sym typeface="Times New Roman"/>
              </a:rPr>
              <a:t> </a:t>
            </a:r>
            <a:endParaRPr sz="3600" dirty="0">
              <a:solidFill>
                <a:schemeClr val="dk1"/>
              </a:solidFill>
              <a:latin typeface="Times New Roman"/>
              <a:ea typeface="Times New Roman"/>
              <a:cs typeface="Times New Roman"/>
              <a:sym typeface="Times New Roman"/>
            </a:endParaRPr>
          </a:p>
        </p:txBody>
      </p:sp>
      <p:sp>
        <p:nvSpPr>
          <p:cNvPr id="33" name="Shape 33"/>
          <p:cNvSpPr txBox="1"/>
          <p:nvPr/>
        </p:nvSpPr>
        <p:spPr>
          <a:xfrm>
            <a:off x="14274611" y="29170368"/>
            <a:ext cx="12331500" cy="5119200"/>
          </a:xfrm>
          <a:prstGeom prst="rect">
            <a:avLst/>
          </a:prstGeom>
          <a:noFill/>
          <a:ln>
            <a:noFill/>
          </a:ln>
        </p:spPr>
        <p:txBody>
          <a:bodyPr spcFirstLastPara="1" wrap="square" lIns="91425" tIns="45700" rIns="91425" bIns="45700" anchor="t" anchorCtr="0">
            <a:noAutofit/>
          </a:bodyPr>
          <a:lstStyle/>
          <a:p>
            <a:pPr marL="457200" marR="0" lvl="0" indent="-444500" algn="l" rtl="0">
              <a:lnSpc>
                <a:spcPct val="100000"/>
              </a:lnSpc>
              <a:spcBef>
                <a:spcPts val="0"/>
              </a:spcBef>
              <a:spcAft>
                <a:spcPts val="0"/>
              </a:spcAft>
              <a:buSzPts val="3400"/>
              <a:buFont typeface="Times New Roman"/>
              <a:buChar char="●"/>
            </a:pPr>
            <a:r>
              <a:rPr lang="en-US" sz="2800" dirty="0">
                <a:latin typeface="+mj-lt"/>
                <a:ea typeface="Times New Roman"/>
                <a:cs typeface="Times New Roman"/>
                <a:sym typeface="Times New Roman"/>
              </a:rPr>
              <a:t>CUBIC causes excessive buffer occupancy in routers with large buffers connected to bottleneck links, resulting in high network latency</a:t>
            </a:r>
          </a:p>
          <a:p>
            <a:pPr marL="457200" marR="0" lvl="0" indent="-444500" algn="l" rtl="0">
              <a:lnSpc>
                <a:spcPct val="100000"/>
              </a:lnSpc>
              <a:spcBef>
                <a:spcPts val="0"/>
              </a:spcBef>
              <a:spcAft>
                <a:spcPts val="0"/>
              </a:spcAft>
              <a:buSzPts val="3400"/>
              <a:buFont typeface="Times New Roman"/>
              <a:buChar char="●"/>
            </a:pPr>
            <a:r>
              <a:rPr lang="en-US" sz="2800" dirty="0">
                <a:latin typeface="+mj-lt"/>
                <a:ea typeface="Times New Roman"/>
                <a:cs typeface="Times New Roman"/>
                <a:sym typeface="Times New Roman"/>
              </a:rPr>
              <a:t>BBR minimizes latency and buffer occupancy in routers connected to bottleneck links</a:t>
            </a:r>
          </a:p>
          <a:p>
            <a:pPr marL="457200" marR="0" lvl="0" indent="-444500" algn="l" rtl="0">
              <a:lnSpc>
                <a:spcPct val="100000"/>
              </a:lnSpc>
              <a:spcBef>
                <a:spcPts val="0"/>
              </a:spcBef>
              <a:spcAft>
                <a:spcPts val="0"/>
              </a:spcAft>
              <a:buSzPts val="3400"/>
              <a:buFont typeface="Times New Roman"/>
              <a:buChar char="●"/>
            </a:pPr>
            <a:r>
              <a:rPr lang="en-US" sz="2800" dirty="0">
                <a:latin typeface="+mj-lt"/>
                <a:ea typeface="Times New Roman"/>
                <a:cs typeface="Times New Roman"/>
                <a:sym typeface="Times New Roman"/>
              </a:rPr>
              <a:t>We can closely examine how the various parts of CUBIC and BBR function, including the relationship between their CWND, SRTT, and SSTHRESH</a:t>
            </a:r>
          </a:p>
          <a:p>
            <a:pPr marL="457200" lvl="0" indent="-444500">
              <a:buSzPts val="3400"/>
              <a:buFont typeface="Times New Roman"/>
              <a:buChar char="●"/>
            </a:pPr>
            <a:r>
              <a:rPr lang="en-US" sz="2800" dirty="0">
                <a:latin typeface="+mj-lt"/>
                <a:ea typeface="Times New Roman"/>
                <a:cs typeface="Times New Roman"/>
                <a:sym typeface="Times New Roman"/>
              </a:rPr>
              <a:t>Our environment could be used for further teaching/research into the behavior between CUBIC and BBR when contending for throughput within a network</a:t>
            </a:r>
          </a:p>
          <a:p>
            <a:pPr marL="457200" marR="0" lvl="0" indent="-444500" algn="l" rtl="0">
              <a:lnSpc>
                <a:spcPct val="100000"/>
              </a:lnSpc>
              <a:spcBef>
                <a:spcPts val="0"/>
              </a:spcBef>
              <a:spcAft>
                <a:spcPts val="0"/>
              </a:spcAft>
              <a:buSzPts val="3400"/>
              <a:buFont typeface="Times New Roman"/>
              <a:buChar char="●"/>
            </a:pPr>
            <a:endParaRPr lang="en-US" sz="2800" dirty="0">
              <a:latin typeface="+mj-lt"/>
              <a:ea typeface="Times New Roman"/>
              <a:cs typeface="Times New Roman"/>
              <a:sym typeface="Times New Roman"/>
            </a:endParaRPr>
          </a:p>
          <a:p>
            <a:pPr marL="457200" marR="0" lvl="0" indent="-444500" algn="l" rtl="0">
              <a:lnSpc>
                <a:spcPct val="100000"/>
              </a:lnSpc>
              <a:spcBef>
                <a:spcPts val="0"/>
              </a:spcBef>
              <a:spcAft>
                <a:spcPts val="0"/>
              </a:spcAft>
              <a:buSzPts val="3400"/>
              <a:buFont typeface="Times New Roman"/>
              <a:buChar char="●"/>
            </a:pPr>
            <a:endParaRPr lang="en-US" sz="2800" dirty="0">
              <a:latin typeface="+mj-lt"/>
              <a:ea typeface="Times New Roman"/>
              <a:cs typeface="Times New Roman"/>
              <a:sym typeface="Times New Roman"/>
            </a:endParaRPr>
          </a:p>
          <a:p>
            <a:pPr marL="457200" marR="0" lvl="0" indent="-444500" algn="l" rtl="0">
              <a:lnSpc>
                <a:spcPct val="100000"/>
              </a:lnSpc>
              <a:spcBef>
                <a:spcPts val="0"/>
              </a:spcBef>
              <a:spcAft>
                <a:spcPts val="0"/>
              </a:spcAft>
              <a:buSzPts val="3400"/>
              <a:buFont typeface="Times New Roman"/>
              <a:buChar char="●"/>
            </a:pPr>
            <a:endParaRPr lang="en-US" sz="2800" dirty="0">
              <a:latin typeface="+mj-lt"/>
              <a:ea typeface="Times New Roman"/>
              <a:cs typeface="Times New Roman"/>
              <a:sym typeface="Times New Roman"/>
            </a:endParaRPr>
          </a:p>
          <a:p>
            <a:pPr marL="457200" marR="0" lvl="0" indent="-444500" algn="l" rtl="0">
              <a:lnSpc>
                <a:spcPct val="100000"/>
              </a:lnSpc>
              <a:spcBef>
                <a:spcPts val="0"/>
              </a:spcBef>
              <a:spcAft>
                <a:spcPts val="0"/>
              </a:spcAft>
              <a:buSzPts val="3400"/>
              <a:buFont typeface="Times New Roman"/>
              <a:buChar char="●"/>
            </a:pPr>
            <a:endParaRPr sz="2800" dirty="0">
              <a:latin typeface="+mj-lt"/>
              <a:ea typeface="Times New Roman"/>
              <a:cs typeface="Times New Roman"/>
              <a:sym typeface="Times New Roman"/>
            </a:endParaRPr>
          </a:p>
        </p:txBody>
      </p:sp>
      <p:sp>
        <p:nvSpPr>
          <p:cNvPr id="36" name="Shape 36"/>
          <p:cNvSpPr txBox="1"/>
          <p:nvPr/>
        </p:nvSpPr>
        <p:spPr>
          <a:xfrm>
            <a:off x="14274611" y="35858075"/>
            <a:ext cx="12533400" cy="1422300"/>
          </a:xfrm>
          <a:prstGeom prst="rect">
            <a:avLst/>
          </a:prstGeom>
          <a:noFill/>
          <a:ln>
            <a:noFill/>
          </a:ln>
        </p:spPr>
        <p:txBody>
          <a:bodyPr spcFirstLastPara="1" wrap="square" lIns="91425" tIns="45700" rIns="91425" bIns="45700" anchor="t" anchorCtr="0">
            <a:noAutofit/>
          </a:bodyPr>
          <a:lstStyle/>
          <a:p>
            <a:pPr marL="457200" lvl="0" indent="-323850" rtl="0">
              <a:lnSpc>
                <a:spcPct val="115000"/>
              </a:lnSpc>
              <a:spcBef>
                <a:spcPts val="0"/>
              </a:spcBef>
              <a:spcAft>
                <a:spcPts val="0"/>
              </a:spcAft>
              <a:buSzPts val="1500"/>
              <a:buAutoNum type="arabicPeriod"/>
            </a:pPr>
            <a:r>
              <a:rPr lang="en-US" sz="1500" dirty="0">
                <a:solidFill>
                  <a:schemeClr val="dk1"/>
                </a:solidFill>
                <a:latin typeface="Times New Roman"/>
                <a:cs typeface="Times New Roman"/>
                <a:sym typeface="Times New Roman"/>
              </a:rPr>
              <a:t>XXX</a:t>
            </a:r>
            <a:endParaRPr dirty="0"/>
          </a:p>
          <a:p>
            <a:pPr marL="0" marR="0" lvl="0" indent="0" algn="l" rtl="0">
              <a:lnSpc>
                <a:spcPct val="100000"/>
              </a:lnSpc>
              <a:spcBef>
                <a:spcPts val="0"/>
              </a:spcBef>
              <a:spcAft>
                <a:spcPts val="0"/>
              </a:spcAft>
              <a:buClr>
                <a:schemeClr val="dk1"/>
              </a:buClr>
              <a:buSzPts val="1400"/>
              <a:buFont typeface="Arial"/>
              <a:buNone/>
            </a:pPr>
            <a:endParaRPr sz="1400" b="0" i="0" u="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400" b="0" i="0" u="none" dirty="0">
              <a:solidFill>
                <a:schemeClr val="dk1"/>
              </a:solidFill>
              <a:latin typeface="Times New Roman"/>
              <a:ea typeface="Times New Roman"/>
              <a:cs typeface="Times New Roman"/>
              <a:sym typeface="Times New Roman"/>
            </a:endParaRPr>
          </a:p>
        </p:txBody>
      </p:sp>
      <p:sp>
        <p:nvSpPr>
          <p:cNvPr id="5" name="Shape 28">
            <a:extLst>
              <a:ext uri="{FF2B5EF4-FFF2-40B4-BE49-F238E27FC236}">
                <a16:creationId xmlns:a16="http://schemas.microsoft.com/office/drawing/2014/main" id="{CC153017-F258-4346-3F26-A1779DD4C564}"/>
              </a:ext>
            </a:extLst>
          </p:cNvPr>
          <p:cNvSpPr txBox="1"/>
          <p:nvPr/>
        </p:nvSpPr>
        <p:spPr>
          <a:xfrm>
            <a:off x="498450" y="22996153"/>
            <a:ext cx="12909600" cy="838200"/>
          </a:xfrm>
          <a:prstGeom prst="rect">
            <a:avLst/>
          </a:prstGeom>
          <a:solidFill>
            <a:srgbClr val="003466"/>
          </a:solidFill>
          <a:ln w="25400" cap="flat" cmpd="sng">
            <a:solidFill>
              <a:srgbClr val="0034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4100"/>
              <a:buFont typeface="Times New Roman"/>
              <a:buNone/>
            </a:pPr>
            <a:r>
              <a:rPr lang="en-US" sz="4100" b="1" dirty="0">
                <a:solidFill>
                  <a:srgbClr val="FFFFFF"/>
                </a:solidFill>
                <a:latin typeface="Times New Roman"/>
                <a:cs typeface="Times New Roman"/>
                <a:sym typeface="Times New Roman"/>
              </a:rPr>
              <a:t>Results - Large Buffer</a:t>
            </a:r>
            <a:endParaRPr dirty="0"/>
          </a:p>
        </p:txBody>
      </p:sp>
      <p:pic>
        <p:nvPicPr>
          <p:cNvPr id="14" name="Picture 13" descr="A graph of a blue line&#10;&#10;Description automatically generated">
            <a:extLst>
              <a:ext uri="{FF2B5EF4-FFF2-40B4-BE49-F238E27FC236}">
                <a16:creationId xmlns:a16="http://schemas.microsoft.com/office/drawing/2014/main" id="{A95E11B9-BC83-2F16-A673-3D382C119E11}"/>
              </a:ext>
            </a:extLst>
          </p:cNvPr>
          <p:cNvPicPr>
            <a:picLocks noChangeAspect="1"/>
          </p:cNvPicPr>
          <p:nvPr/>
        </p:nvPicPr>
        <p:blipFill>
          <a:blip r:embed="rId3"/>
          <a:stretch>
            <a:fillRect/>
          </a:stretch>
        </p:blipFill>
        <p:spPr>
          <a:xfrm>
            <a:off x="876591" y="23981942"/>
            <a:ext cx="12153318" cy="5472742"/>
          </a:xfrm>
          <a:prstGeom prst="rect">
            <a:avLst/>
          </a:prstGeom>
        </p:spPr>
      </p:pic>
      <p:sp>
        <p:nvSpPr>
          <p:cNvPr id="17" name="TextBox 16">
            <a:extLst>
              <a:ext uri="{FF2B5EF4-FFF2-40B4-BE49-F238E27FC236}">
                <a16:creationId xmlns:a16="http://schemas.microsoft.com/office/drawing/2014/main" id="{21E58DA4-7773-3C5D-B1DB-739BB7BFFFF5}"/>
              </a:ext>
            </a:extLst>
          </p:cNvPr>
          <p:cNvSpPr txBox="1"/>
          <p:nvPr/>
        </p:nvSpPr>
        <p:spPr>
          <a:xfrm>
            <a:off x="1466849" y="29454684"/>
            <a:ext cx="10972800" cy="1200329"/>
          </a:xfrm>
          <a:prstGeom prst="rect">
            <a:avLst/>
          </a:prstGeom>
          <a:noFill/>
        </p:spPr>
        <p:txBody>
          <a:bodyPr wrap="square" rtlCol="0">
            <a:spAutoFit/>
          </a:bodyPr>
          <a:lstStyle/>
          <a:p>
            <a:r>
              <a:rPr lang="en-US" sz="2400" dirty="0"/>
              <a:t>Figure 2: As CUBIC continues to expand its congestion window, data accumulates excessively in the buffer, causing high latency (~5 second SRTT after 30 seconds)</a:t>
            </a:r>
          </a:p>
        </p:txBody>
      </p:sp>
      <p:grpSp>
        <p:nvGrpSpPr>
          <p:cNvPr id="40" name="Group 39">
            <a:extLst>
              <a:ext uri="{FF2B5EF4-FFF2-40B4-BE49-F238E27FC236}">
                <a16:creationId xmlns:a16="http://schemas.microsoft.com/office/drawing/2014/main" id="{4E4C5B71-457F-8EDD-C521-381EA5F77279}"/>
              </a:ext>
            </a:extLst>
          </p:cNvPr>
          <p:cNvGrpSpPr/>
          <p:nvPr/>
        </p:nvGrpSpPr>
        <p:grpSpPr>
          <a:xfrm>
            <a:off x="876590" y="30853526"/>
            <a:ext cx="12153319" cy="6303739"/>
            <a:chOff x="876590" y="30499633"/>
            <a:chExt cx="12153319" cy="6303739"/>
          </a:xfrm>
        </p:grpSpPr>
        <p:pic>
          <p:nvPicPr>
            <p:cNvPr id="16" name="Picture 15" descr="A graph of a graph showing a normal body&#10;&#10;Description automatically generated with medium confidence">
              <a:extLst>
                <a:ext uri="{FF2B5EF4-FFF2-40B4-BE49-F238E27FC236}">
                  <a16:creationId xmlns:a16="http://schemas.microsoft.com/office/drawing/2014/main" id="{330D8CDF-E94A-0F2B-2462-4BD87A955519}"/>
                </a:ext>
              </a:extLst>
            </p:cNvPr>
            <p:cNvPicPr>
              <a:picLocks noChangeAspect="1"/>
            </p:cNvPicPr>
            <p:nvPr/>
          </p:nvPicPr>
          <p:blipFill>
            <a:blip r:embed="rId4"/>
            <a:stretch>
              <a:fillRect/>
            </a:stretch>
          </p:blipFill>
          <p:spPr>
            <a:xfrm>
              <a:off x="876590" y="30499633"/>
              <a:ext cx="12153319" cy="5472742"/>
            </a:xfrm>
            <a:prstGeom prst="rect">
              <a:avLst/>
            </a:prstGeom>
          </p:spPr>
        </p:pic>
        <p:sp>
          <p:nvSpPr>
            <p:cNvPr id="19" name="TextBox 18">
              <a:extLst>
                <a:ext uri="{FF2B5EF4-FFF2-40B4-BE49-F238E27FC236}">
                  <a16:creationId xmlns:a16="http://schemas.microsoft.com/office/drawing/2014/main" id="{5F917AE7-DEC6-4CF9-A3BC-A1E62C8ADAFE}"/>
                </a:ext>
              </a:extLst>
            </p:cNvPr>
            <p:cNvSpPr txBox="1"/>
            <p:nvPr/>
          </p:nvSpPr>
          <p:spPr>
            <a:xfrm>
              <a:off x="1466849" y="35972375"/>
              <a:ext cx="10972800" cy="830997"/>
            </a:xfrm>
            <a:prstGeom prst="rect">
              <a:avLst/>
            </a:prstGeom>
            <a:noFill/>
          </p:spPr>
          <p:txBody>
            <a:bodyPr wrap="square">
              <a:spAutoFit/>
            </a:bodyPr>
            <a:lstStyle/>
            <a:p>
              <a:r>
                <a:rPr lang="en-US" sz="2400" dirty="0">
                  <a:latin typeface="+mj-lt"/>
                </a:rPr>
                <a:t>Figure 3: BBR maintains low latency (~0.03 second RTT after 30 seconds) by proactively managing the congestion window.</a:t>
              </a:r>
            </a:p>
          </p:txBody>
        </p:sp>
      </p:grpSp>
      <p:grpSp>
        <p:nvGrpSpPr>
          <p:cNvPr id="44" name="Group 43">
            <a:extLst>
              <a:ext uri="{FF2B5EF4-FFF2-40B4-BE49-F238E27FC236}">
                <a16:creationId xmlns:a16="http://schemas.microsoft.com/office/drawing/2014/main" id="{C9E25A70-FD06-BF7F-C786-C340AFA067D9}"/>
              </a:ext>
            </a:extLst>
          </p:cNvPr>
          <p:cNvGrpSpPr/>
          <p:nvPr/>
        </p:nvGrpSpPr>
        <p:grpSpPr>
          <a:xfrm>
            <a:off x="14405991" y="5748340"/>
            <a:ext cx="12153318" cy="7428889"/>
            <a:chOff x="14405991" y="5622898"/>
            <a:chExt cx="12153318" cy="7428889"/>
          </a:xfrm>
        </p:grpSpPr>
        <p:pic>
          <p:nvPicPr>
            <p:cNvPr id="3" name="Google Shape;235;p1">
              <a:extLst>
                <a:ext uri="{FF2B5EF4-FFF2-40B4-BE49-F238E27FC236}">
                  <a16:creationId xmlns:a16="http://schemas.microsoft.com/office/drawing/2014/main" id="{CE537586-8E8A-43E5-1954-21AA7EC22264}"/>
                </a:ext>
              </a:extLst>
            </p:cNvPr>
            <p:cNvPicPr preferRelativeResize="0"/>
            <p:nvPr/>
          </p:nvPicPr>
          <p:blipFill>
            <a:blip r:embed="rId5">
              <a:alphaModFix/>
            </a:blip>
            <a:stretch>
              <a:fillRect/>
            </a:stretch>
          </p:blipFill>
          <p:spPr>
            <a:xfrm>
              <a:off x="14405991" y="5622898"/>
              <a:ext cx="12153318" cy="5859229"/>
            </a:xfrm>
            <a:prstGeom prst="rect">
              <a:avLst/>
            </a:prstGeom>
            <a:noFill/>
            <a:ln>
              <a:noFill/>
            </a:ln>
          </p:spPr>
        </p:pic>
        <p:sp>
          <p:nvSpPr>
            <p:cNvPr id="39" name="TextBox 38">
              <a:extLst>
                <a:ext uri="{FF2B5EF4-FFF2-40B4-BE49-F238E27FC236}">
                  <a16:creationId xmlns:a16="http://schemas.microsoft.com/office/drawing/2014/main" id="{DCE8FE40-CB8E-D5B2-B533-C88D9B107085}"/>
                </a:ext>
              </a:extLst>
            </p:cNvPr>
            <p:cNvSpPr txBox="1"/>
            <p:nvPr/>
          </p:nvSpPr>
          <p:spPr>
            <a:xfrm>
              <a:off x="15040700" y="11482127"/>
              <a:ext cx="10972800" cy="1569660"/>
            </a:xfrm>
            <a:prstGeom prst="rect">
              <a:avLst/>
            </a:prstGeom>
            <a:noFill/>
          </p:spPr>
          <p:txBody>
            <a:bodyPr wrap="square" rtlCol="0">
              <a:spAutoFit/>
            </a:bodyPr>
            <a:lstStyle/>
            <a:p>
              <a:r>
                <a:rPr lang="en-US" sz="2400" dirty="0"/>
                <a:t>Figure 4: With a small buffer, CUBIC visualizes the interplay of its states. Aggressive growth during the “Slow Start” phase, shrinking of window size while encountering packet loss during “Congestion Avoidance” phase, and cubic growth until subsequent congestion. </a:t>
              </a:r>
            </a:p>
          </p:txBody>
        </p:sp>
      </p:grpSp>
      <p:sp>
        <p:nvSpPr>
          <p:cNvPr id="42" name="TextBox 41">
            <a:extLst>
              <a:ext uri="{FF2B5EF4-FFF2-40B4-BE49-F238E27FC236}">
                <a16:creationId xmlns:a16="http://schemas.microsoft.com/office/drawing/2014/main" id="{7DFA01B0-21C5-916D-F106-D5C8FA2C9862}"/>
              </a:ext>
            </a:extLst>
          </p:cNvPr>
          <p:cNvSpPr txBox="1"/>
          <p:nvPr/>
        </p:nvSpPr>
        <p:spPr>
          <a:xfrm>
            <a:off x="15040700" y="18798648"/>
            <a:ext cx="10972800" cy="2308324"/>
          </a:xfrm>
          <a:prstGeom prst="rect">
            <a:avLst/>
          </a:prstGeom>
          <a:noFill/>
        </p:spPr>
        <p:txBody>
          <a:bodyPr wrap="square" rtlCol="0">
            <a:spAutoFit/>
          </a:bodyPr>
          <a:lstStyle/>
          <a:p>
            <a:r>
              <a:rPr lang="en-US" sz="2400" dirty="0"/>
              <a:t>Figure 5: BBR records minimum Round-Trip-Time (min RTT) and seeks maximum bandwidth (BW) during “STARTUP” phase. The “DRAIN” phase follows to allow any built-up packets to clear in the buffer. BBR then probes near the “optimal” BW, a function of max BW and min RTT. The min RTT is updated periodically by shrinking the window size and is the RTT with minimum buffer occupancy.</a:t>
            </a:r>
          </a:p>
        </p:txBody>
      </p:sp>
      <p:sp>
        <p:nvSpPr>
          <p:cNvPr id="43" name="TextBox 42">
            <a:extLst>
              <a:ext uri="{FF2B5EF4-FFF2-40B4-BE49-F238E27FC236}">
                <a16:creationId xmlns:a16="http://schemas.microsoft.com/office/drawing/2014/main" id="{9DE32222-400C-3372-0256-FD6B05312375}"/>
              </a:ext>
            </a:extLst>
          </p:cNvPr>
          <p:cNvSpPr txBox="1"/>
          <p:nvPr/>
        </p:nvSpPr>
        <p:spPr>
          <a:xfrm>
            <a:off x="15040700" y="26560444"/>
            <a:ext cx="10972800" cy="1200329"/>
          </a:xfrm>
          <a:prstGeom prst="rect">
            <a:avLst/>
          </a:prstGeom>
          <a:noFill/>
        </p:spPr>
        <p:txBody>
          <a:bodyPr wrap="square" rtlCol="0">
            <a:spAutoFit/>
          </a:bodyPr>
          <a:lstStyle/>
          <a:p>
            <a:r>
              <a:rPr lang="en-US" sz="2400"/>
              <a:t>Figure </a:t>
            </a:r>
            <a:r>
              <a:rPr lang="en-US" sz="2400" dirty="0"/>
              <a:t>6</a:t>
            </a:r>
            <a:r>
              <a:rPr lang="en-US" sz="2400"/>
              <a:t>: </a:t>
            </a:r>
            <a:r>
              <a:rPr lang="en-US" sz="2400" dirty="0"/>
              <a:t>When used concurrently within a network, things become more complicated. BBR cannot control buffer occupancy due to CUBIC and eventually ends up utilizing more buffer space. Is their network contention fair?. </a:t>
            </a:r>
          </a:p>
        </p:txBody>
      </p:sp>
      <p:sp>
        <p:nvSpPr>
          <p:cNvPr id="47" name="Shape 31">
            <a:extLst>
              <a:ext uri="{FF2B5EF4-FFF2-40B4-BE49-F238E27FC236}">
                <a16:creationId xmlns:a16="http://schemas.microsoft.com/office/drawing/2014/main" id="{14539D81-C43B-DDF7-542A-7EB15A9715D1}"/>
              </a:ext>
            </a:extLst>
          </p:cNvPr>
          <p:cNvSpPr txBox="1"/>
          <p:nvPr/>
        </p:nvSpPr>
        <p:spPr>
          <a:xfrm>
            <a:off x="838199" y="13343322"/>
            <a:ext cx="12230100" cy="6602158"/>
          </a:xfrm>
          <a:prstGeom prst="rect">
            <a:avLst/>
          </a:prstGeom>
          <a:noFill/>
          <a:ln>
            <a:noFill/>
          </a:ln>
        </p:spPr>
        <p:txBody>
          <a:bodyPr spcFirstLastPara="1" wrap="square" lIns="391025" tIns="391025" rIns="391025" bIns="195475" anchor="t" anchorCtr="0">
            <a:noAutofit/>
          </a:bodyPr>
          <a:lstStyle/>
          <a:p>
            <a:pPr marL="457200" indent="-457200">
              <a:buClr>
                <a:schemeClr val="dk1"/>
              </a:buClr>
              <a:buSzPts val="3600"/>
              <a:buFont typeface="Times New Roman"/>
              <a:buChar char="●"/>
            </a:pPr>
            <a:r>
              <a:rPr lang="en-US" sz="2800" dirty="0">
                <a:solidFill>
                  <a:schemeClr val="dk1"/>
                </a:solidFill>
                <a:latin typeface="+mj-lt"/>
                <a:cs typeface="Times New Roman"/>
                <a:sym typeface="Times New Roman"/>
              </a:rPr>
              <a:t>Two congestion control algorithms are tested: CUBIC, and Bottleneck Bandwidth and Round-trip propagation time (BBR)</a:t>
            </a:r>
          </a:p>
          <a:p>
            <a:pPr marL="457200" indent="-457200">
              <a:buClr>
                <a:schemeClr val="dk1"/>
              </a:buClr>
              <a:buSzPts val="3600"/>
              <a:buFont typeface="Times New Roman"/>
              <a:buChar char="●"/>
            </a:pPr>
            <a:r>
              <a:rPr lang="en-US" sz="2800" b="0" i="0" dirty="0">
                <a:solidFill>
                  <a:schemeClr val="dk1"/>
                </a:solidFill>
                <a:effectLst/>
                <a:latin typeface="+mj-lt"/>
                <a:cs typeface="Times New Roman"/>
                <a:sym typeface="Times New Roman"/>
              </a:rPr>
              <a:t>Each is tested using a large buffer with a capacity of 10,000 packets, and a small buffer with a capacity of 100 packets</a:t>
            </a:r>
          </a:p>
          <a:p>
            <a:pPr marL="457200" marR="0" lvl="0" indent="-457200" algn="l" rtl="0">
              <a:lnSpc>
                <a:spcPct val="100000"/>
              </a:lnSpc>
              <a:spcBef>
                <a:spcPts val="0"/>
              </a:spcBef>
              <a:spcAft>
                <a:spcPts val="0"/>
              </a:spcAft>
              <a:buClr>
                <a:schemeClr val="dk1"/>
              </a:buClr>
              <a:buSzPts val="3600"/>
              <a:buFont typeface="Times New Roman"/>
              <a:buChar char="●"/>
            </a:pPr>
            <a:r>
              <a:rPr lang="en-US" sz="2800" b="0" i="0" dirty="0">
                <a:solidFill>
                  <a:schemeClr val="dk1"/>
                </a:solidFill>
                <a:effectLst/>
                <a:latin typeface="+mj-lt"/>
                <a:cs typeface="Times New Roman"/>
                <a:sym typeface="Times New Roman"/>
              </a:rPr>
              <a:t>The environment </a:t>
            </a:r>
            <a:r>
              <a:rPr lang="en-US" sz="2800" dirty="0">
                <a:solidFill>
                  <a:schemeClr val="dk1"/>
                </a:solidFill>
                <a:latin typeface="+mj-lt"/>
                <a:cs typeface="Times New Roman"/>
                <a:sym typeface="Times New Roman"/>
              </a:rPr>
              <a:t>uses Mininet to emulate the behavior of the physical devices within a network.</a:t>
            </a:r>
          </a:p>
          <a:p>
            <a:pPr marL="457200" marR="0" lvl="0" indent="-457200" algn="l" rtl="0">
              <a:lnSpc>
                <a:spcPct val="100000"/>
              </a:lnSpc>
              <a:spcBef>
                <a:spcPts val="0"/>
              </a:spcBef>
              <a:spcAft>
                <a:spcPts val="0"/>
              </a:spcAft>
              <a:buClr>
                <a:schemeClr val="dk1"/>
              </a:buClr>
              <a:buSzPts val="3600"/>
              <a:buFont typeface="Times New Roman"/>
              <a:buChar char="●"/>
            </a:pPr>
            <a:r>
              <a:rPr lang="en-US" sz="2800" dirty="0">
                <a:solidFill>
                  <a:schemeClr val="dk1"/>
                </a:solidFill>
                <a:latin typeface="+mj-lt"/>
                <a:cs typeface="Times New Roman"/>
                <a:sym typeface="Times New Roman"/>
              </a:rPr>
              <a:t>Iperf3 is used to generate TCP data streams between the hosts.</a:t>
            </a:r>
          </a:p>
          <a:p>
            <a:pPr marL="457200" marR="0" lvl="0" indent="-457200" algn="l" rtl="0">
              <a:lnSpc>
                <a:spcPct val="100000"/>
              </a:lnSpc>
              <a:spcBef>
                <a:spcPts val="0"/>
              </a:spcBef>
              <a:spcAft>
                <a:spcPts val="0"/>
              </a:spcAft>
              <a:buClr>
                <a:schemeClr val="dk1"/>
              </a:buClr>
              <a:buSzPts val="3600"/>
              <a:buFont typeface="Times New Roman"/>
              <a:buChar char="●"/>
            </a:pPr>
            <a:r>
              <a:rPr lang="en-US" sz="2800" dirty="0" err="1">
                <a:solidFill>
                  <a:schemeClr val="dk1"/>
                </a:solidFill>
                <a:latin typeface="+mj-lt"/>
                <a:cs typeface="Times New Roman"/>
                <a:sym typeface="Times New Roman"/>
              </a:rPr>
              <a:t>Ftrace</a:t>
            </a:r>
            <a:r>
              <a:rPr lang="en-US" sz="2800" dirty="0">
                <a:solidFill>
                  <a:schemeClr val="dk1"/>
                </a:solidFill>
                <a:latin typeface="+mj-lt"/>
                <a:cs typeface="Times New Roman"/>
                <a:sym typeface="Times New Roman"/>
              </a:rPr>
              <a:t> is used to collect the Congestion Window size (CWND), Smoothed Round Trip Time (SRTT) and Slow Start Threshold (SSTHRESH) as reported by the kernel of the sending hosts</a:t>
            </a:r>
          </a:p>
          <a:p>
            <a:pPr marL="457200" marR="0" lvl="0" indent="-457200" algn="l" rtl="0">
              <a:lnSpc>
                <a:spcPct val="100000"/>
              </a:lnSpc>
              <a:spcBef>
                <a:spcPts val="0"/>
              </a:spcBef>
              <a:spcAft>
                <a:spcPts val="0"/>
              </a:spcAft>
              <a:buClr>
                <a:schemeClr val="dk1"/>
              </a:buClr>
              <a:buSzPts val="3600"/>
              <a:buFont typeface="Times New Roman"/>
              <a:buChar char="●"/>
            </a:pPr>
            <a:r>
              <a:rPr lang="en-US" sz="2800" dirty="0">
                <a:solidFill>
                  <a:schemeClr val="dk1"/>
                </a:solidFill>
                <a:latin typeface="+mj-lt"/>
                <a:cs typeface="Times New Roman"/>
                <a:sym typeface="Times New Roman"/>
              </a:rPr>
              <a:t>TCP stream information and RTT are also collected using </a:t>
            </a:r>
            <a:r>
              <a:rPr lang="en-US" sz="2800" dirty="0" err="1">
                <a:solidFill>
                  <a:schemeClr val="dk1"/>
                </a:solidFill>
                <a:latin typeface="+mj-lt"/>
                <a:cs typeface="Times New Roman"/>
                <a:sym typeface="Times New Roman"/>
              </a:rPr>
              <a:t>tcpdump’s</a:t>
            </a:r>
            <a:r>
              <a:rPr lang="en-US" sz="2800" dirty="0">
                <a:solidFill>
                  <a:schemeClr val="dk1"/>
                </a:solidFill>
                <a:latin typeface="+mj-lt"/>
                <a:cs typeface="Times New Roman"/>
                <a:sym typeface="Times New Roman"/>
              </a:rPr>
              <a:t> packet capture and the ping utility</a:t>
            </a:r>
          </a:p>
          <a:p>
            <a:pPr marR="0" lvl="0" algn="l" rtl="0">
              <a:lnSpc>
                <a:spcPct val="100000"/>
              </a:lnSpc>
              <a:spcBef>
                <a:spcPts val="0"/>
              </a:spcBef>
              <a:spcAft>
                <a:spcPts val="0"/>
              </a:spcAft>
              <a:buClr>
                <a:schemeClr val="dk1"/>
              </a:buClr>
              <a:buSzPts val="3600"/>
            </a:pPr>
            <a:endParaRPr lang="en-US" sz="2800" dirty="0">
              <a:solidFill>
                <a:schemeClr val="dk1"/>
              </a:solidFill>
              <a:latin typeface="+mj-lt"/>
              <a:cs typeface="Times New Roman"/>
              <a:sym typeface="Times New Roman"/>
            </a:endParaRPr>
          </a:p>
          <a:p>
            <a:pPr marL="457200" marR="0" lvl="0" indent="-457200" algn="l" rtl="0">
              <a:lnSpc>
                <a:spcPct val="100000"/>
              </a:lnSpc>
              <a:spcBef>
                <a:spcPts val="0"/>
              </a:spcBef>
              <a:spcAft>
                <a:spcPts val="0"/>
              </a:spcAft>
              <a:buClr>
                <a:schemeClr val="dk1"/>
              </a:buClr>
              <a:buSzPts val="3600"/>
              <a:buFont typeface="Times New Roman"/>
              <a:buChar char="●"/>
            </a:pPr>
            <a:endParaRPr lang="en-US" sz="2800" dirty="0">
              <a:solidFill>
                <a:schemeClr val="dk1"/>
              </a:solidFill>
              <a:latin typeface="+mj-lt"/>
              <a:cs typeface="Times New Roman"/>
              <a:sym typeface="Times New Roman"/>
            </a:endParaRPr>
          </a:p>
          <a:p>
            <a:pPr marL="457200" marR="0" lvl="0" indent="-457200" algn="l" rtl="0">
              <a:lnSpc>
                <a:spcPct val="100000"/>
              </a:lnSpc>
              <a:spcBef>
                <a:spcPts val="0"/>
              </a:spcBef>
              <a:spcAft>
                <a:spcPts val="0"/>
              </a:spcAft>
              <a:buClr>
                <a:schemeClr val="dk1"/>
              </a:buClr>
              <a:buSzPts val="3600"/>
              <a:buFont typeface="Times New Roman"/>
              <a:buChar char="●"/>
            </a:pPr>
            <a:endParaRPr lang="en-US" sz="2800" dirty="0">
              <a:solidFill>
                <a:schemeClr val="dk1"/>
              </a:solidFill>
              <a:latin typeface="+mj-lt"/>
              <a:cs typeface="Times New Roman"/>
              <a:sym typeface="Times New Roman"/>
            </a:endParaRPr>
          </a:p>
          <a:p>
            <a:pPr marL="457200" marR="0" lvl="0" indent="-457200" algn="l" rtl="0">
              <a:lnSpc>
                <a:spcPct val="100000"/>
              </a:lnSpc>
              <a:spcBef>
                <a:spcPts val="0"/>
              </a:spcBef>
              <a:spcAft>
                <a:spcPts val="0"/>
              </a:spcAft>
              <a:buClr>
                <a:schemeClr val="dk1"/>
              </a:buClr>
              <a:buSzPts val="3600"/>
              <a:buFont typeface="Times New Roman"/>
              <a:buChar char="●"/>
            </a:pPr>
            <a:endParaRPr lang="en-US" sz="2800" dirty="0">
              <a:solidFill>
                <a:schemeClr val="dk1"/>
              </a:solidFill>
              <a:latin typeface="+mj-lt"/>
              <a:cs typeface="Times New Roman"/>
              <a:sym typeface="Times New Roman"/>
            </a:endParaRPr>
          </a:p>
          <a:p>
            <a:pPr marL="457200" marR="0" lvl="0" indent="-457200" algn="l" rtl="0">
              <a:lnSpc>
                <a:spcPct val="100000"/>
              </a:lnSpc>
              <a:spcBef>
                <a:spcPts val="0"/>
              </a:spcBef>
              <a:spcAft>
                <a:spcPts val="0"/>
              </a:spcAft>
              <a:buClr>
                <a:schemeClr val="dk1"/>
              </a:buClr>
              <a:buSzPts val="3600"/>
              <a:buFont typeface="Times New Roman"/>
              <a:buChar char="●"/>
            </a:pPr>
            <a:endParaRPr lang="en-CA" sz="2800" dirty="0">
              <a:solidFill>
                <a:srgbClr val="202124"/>
              </a:solidFill>
              <a:latin typeface="+mj-lt"/>
            </a:endParaRPr>
          </a:p>
        </p:txBody>
      </p:sp>
      <p:pic>
        <p:nvPicPr>
          <p:cNvPr id="1028" name="Picture 4">
            <a:extLst>
              <a:ext uri="{FF2B5EF4-FFF2-40B4-BE49-F238E27FC236}">
                <a16:creationId xmlns:a16="http://schemas.microsoft.com/office/drawing/2014/main" id="{66484A6D-DB0C-A271-BD55-8AFCF1E9D7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0278" y="19087281"/>
            <a:ext cx="9039225" cy="2390775"/>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608CF589-DC63-C85B-C18F-DC974B33FFD2}"/>
              </a:ext>
            </a:extLst>
          </p:cNvPr>
          <p:cNvSpPr txBox="1"/>
          <p:nvPr/>
        </p:nvSpPr>
        <p:spPr>
          <a:xfrm>
            <a:off x="1501775" y="21537462"/>
            <a:ext cx="10972800" cy="1200329"/>
          </a:xfrm>
          <a:prstGeom prst="rect">
            <a:avLst/>
          </a:prstGeom>
          <a:noFill/>
        </p:spPr>
        <p:txBody>
          <a:bodyPr wrap="square">
            <a:spAutoFit/>
          </a:bodyPr>
          <a:lstStyle/>
          <a:p>
            <a:pPr>
              <a:buClr>
                <a:schemeClr val="dk1"/>
              </a:buClr>
              <a:buSzPts val="3600"/>
            </a:pPr>
            <a:r>
              <a:rPr lang="en-CA" sz="2400" dirty="0">
                <a:solidFill>
                  <a:srgbClr val="202124"/>
                </a:solidFill>
                <a:latin typeface="+mj-lt"/>
              </a:rPr>
              <a:t>Figure 1: The network</a:t>
            </a:r>
            <a:r>
              <a:rPr lang="en-CA" sz="2400" b="0" i="0" dirty="0">
                <a:solidFill>
                  <a:srgbClr val="202124"/>
                </a:solidFill>
                <a:effectLst/>
                <a:latin typeface="+mj-lt"/>
              </a:rPr>
              <a:t> topology is in the shape of a dumbbell; it consists of two sets of hosts, connected to each other through two routers. The routers are connected by a single bottleneck link</a:t>
            </a:r>
            <a:r>
              <a:rPr lang="en-US" sz="2400" dirty="0">
                <a:solidFill>
                  <a:schemeClr val="dk1"/>
                </a:solidFill>
                <a:latin typeface="+mj-lt"/>
                <a:cs typeface="Times New Roman"/>
                <a:sym typeface="Times New Roman"/>
              </a:rPr>
              <a:t> where congestion occurs.</a:t>
            </a:r>
          </a:p>
        </p:txBody>
      </p:sp>
      <p:sp>
        <p:nvSpPr>
          <p:cNvPr id="54" name="Shape 28">
            <a:extLst>
              <a:ext uri="{FF2B5EF4-FFF2-40B4-BE49-F238E27FC236}">
                <a16:creationId xmlns:a16="http://schemas.microsoft.com/office/drawing/2014/main" id="{7D700915-B2FC-245A-437D-B29A236C19AF}"/>
              </a:ext>
            </a:extLst>
          </p:cNvPr>
          <p:cNvSpPr txBox="1"/>
          <p:nvPr/>
        </p:nvSpPr>
        <p:spPr>
          <a:xfrm>
            <a:off x="14027850" y="28039243"/>
            <a:ext cx="12909600" cy="838200"/>
          </a:xfrm>
          <a:prstGeom prst="rect">
            <a:avLst/>
          </a:prstGeom>
          <a:solidFill>
            <a:srgbClr val="003466"/>
          </a:solidFill>
          <a:ln w="25400" cap="flat" cmpd="sng">
            <a:solidFill>
              <a:srgbClr val="0034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4100"/>
              <a:buFont typeface="Times New Roman"/>
              <a:buNone/>
            </a:pPr>
            <a:r>
              <a:rPr lang="en-US" sz="4100" b="1" dirty="0">
                <a:solidFill>
                  <a:srgbClr val="FFFFFF"/>
                </a:solidFill>
                <a:latin typeface="Times New Roman"/>
                <a:cs typeface="Times New Roman"/>
                <a:sym typeface="Times New Roman"/>
              </a:rPr>
              <a:t>Conclusion</a:t>
            </a:r>
            <a:endParaRPr dirty="0"/>
          </a:p>
        </p:txBody>
      </p:sp>
      <p:sp>
        <p:nvSpPr>
          <p:cNvPr id="55" name="Shape 28">
            <a:extLst>
              <a:ext uri="{FF2B5EF4-FFF2-40B4-BE49-F238E27FC236}">
                <a16:creationId xmlns:a16="http://schemas.microsoft.com/office/drawing/2014/main" id="{2620D0BE-6B54-C90B-7620-7B46A7148A52}"/>
              </a:ext>
            </a:extLst>
          </p:cNvPr>
          <p:cNvSpPr txBox="1"/>
          <p:nvPr/>
        </p:nvSpPr>
        <p:spPr>
          <a:xfrm>
            <a:off x="14027850" y="34023914"/>
            <a:ext cx="12909600" cy="838200"/>
          </a:xfrm>
          <a:prstGeom prst="rect">
            <a:avLst/>
          </a:prstGeom>
          <a:solidFill>
            <a:srgbClr val="003466"/>
          </a:solidFill>
          <a:ln w="25400" cap="flat" cmpd="sng">
            <a:solidFill>
              <a:srgbClr val="0034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4100"/>
              <a:buFont typeface="Times New Roman"/>
              <a:buNone/>
            </a:pPr>
            <a:r>
              <a:rPr lang="en-CA" sz="4100" b="1" dirty="0">
                <a:solidFill>
                  <a:srgbClr val="FFFFFF"/>
                </a:solidFill>
                <a:latin typeface="Times New Roman"/>
                <a:cs typeface="Times New Roman"/>
                <a:sym typeface="Times New Roman"/>
              </a:rPr>
              <a:t>A</a:t>
            </a:r>
            <a:r>
              <a:rPr lang="en-US" sz="4100" b="1" dirty="0" err="1">
                <a:solidFill>
                  <a:srgbClr val="FFFFFF"/>
                </a:solidFill>
                <a:latin typeface="Times New Roman"/>
                <a:cs typeface="Times New Roman"/>
                <a:sym typeface="Times New Roman"/>
              </a:rPr>
              <a:t>cknowledgements</a:t>
            </a:r>
            <a:endParaRPr dirty="0"/>
          </a:p>
        </p:txBody>
      </p:sp>
      <p:pic>
        <p:nvPicPr>
          <p:cNvPr id="59" name="Picture 58" descr="A graph showing a number of blue and green lines&#10;&#10;Description automatically generated">
            <a:extLst>
              <a:ext uri="{FF2B5EF4-FFF2-40B4-BE49-F238E27FC236}">
                <a16:creationId xmlns:a16="http://schemas.microsoft.com/office/drawing/2014/main" id="{63E75A55-56D8-92AC-F739-E11DB966998A}"/>
              </a:ext>
            </a:extLst>
          </p:cNvPr>
          <p:cNvPicPr>
            <a:picLocks noChangeAspect="1"/>
          </p:cNvPicPr>
          <p:nvPr/>
        </p:nvPicPr>
        <p:blipFill>
          <a:blip r:embed="rId7"/>
          <a:stretch>
            <a:fillRect/>
          </a:stretch>
        </p:blipFill>
        <p:spPr>
          <a:xfrm>
            <a:off x="14464651" y="13382602"/>
            <a:ext cx="12153319" cy="5472742"/>
          </a:xfrm>
          <a:prstGeom prst="rect">
            <a:avLst/>
          </a:prstGeom>
        </p:spPr>
      </p:pic>
      <p:pic>
        <p:nvPicPr>
          <p:cNvPr id="61" name="Picture 60" descr="A graph with lines and numbers&#10;&#10;Description automatically generated with medium confidence">
            <a:extLst>
              <a:ext uri="{FF2B5EF4-FFF2-40B4-BE49-F238E27FC236}">
                <a16:creationId xmlns:a16="http://schemas.microsoft.com/office/drawing/2014/main" id="{D74AC24E-A84E-3E7D-8344-5E0258F0D5BD}"/>
              </a:ext>
            </a:extLst>
          </p:cNvPr>
          <p:cNvPicPr>
            <a:picLocks noChangeAspect="1"/>
          </p:cNvPicPr>
          <p:nvPr/>
        </p:nvPicPr>
        <p:blipFill>
          <a:blip r:embed="rId8"/>
          <a:stretch>
            <a:fillRect/>
          </a:stretch>
        </p:blipFill>
        <p:spPr>
          <a:xfrm>
            <a:off x="14464651" y="21106972"/>
            <a:ext cx="12153319" cy="5472742"/>
          </a:xfrm>
          <a:prstGeom prst="rect">
            <a:avLst/>
          </a:prstGeom>
        </p:spPr>
      </p:pic>
    </p:spTree>
  </p:cSld>
  <p:clrMapOvr>
    <a:masterClrMapping/>
  </p:clrMapOvr>
</p:sld>
</file>

<file path=ppt/theme/theme1.xml><?xml version="1.0" encoding="utf-8"?>
<a:theme xmlns:a="http://schemas.openxmlformats.org/drawingml/2006/main" name="1_Office Theme">
  <a:themeElements>
    <a:clrScheme name="Custom 2">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575</TotalTime>
  <Words>655</Words>
  <Application>Microsoft Office PowerPoint</Application>
  <PresentationFormat>Custom</PresentationFormat>
  <Paragraphs>33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Times New Roman</vt:lpstr>
      <vt:lpstr>Calibri</vt:lpstr>
      <vt:lpstr>1_Office Theme</vt:lpstr>
      <vt:lpstr>Inspecting Network Congestion Control Algorithms in an Emulation Environment   Joshua Wolfel, Dr. Elahi Department of Mathematics and Computing, Mount Royal University, Calgary, AB, Canada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serotonin mediate darkness-induced pigment cell proliferation in Xenopus laevis tadpoles?   Nicky Zalasky &amp; Karen Atkinson-Leadbeater  Department of Psychology, Mount Royal University, Calgary, AB, Canada</dc:title>
  <dc:creator>Joshua</dc:creator>
  <cp:lastModifiedBy>Joshua Wolfel</cp:lastModifiedBy>
  <cp:revision>10</cp:revision>
  <dcterms:created xsi:type="dcterms:W3CDTF">2018-03-26T00:01:23Z</dcterms:created>
  <dcterms:modified xsi:type="dcterms:W3CDTF">2024-03-25T01:52:45Z</dcterms:modified>
</cp:coreProperties>
</file>